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5C11C-687E-49CC-BB58-B424E6B5A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235CE5-941A-4AE7-AD35-1354932A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BC54E-979E-44CB-8DC6-2270B193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81A73-117D-4EEB-8C19-AC0333D3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F9A5F-8565-4676-9563-5B5DB54C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13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74266-0102-4977-BBCE-8D6CEF31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A1AD7-130A-4859-867D-BF22CFD3C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258E3B-04D7-41C4-9243-8682259B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CA42F-1DD0-4326-913D-9EDD3294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61A0A8-96BF-4DF6-AFE6-BD1DFD14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0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A9F5D-3F53-425B-81B8-DAFA1B34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D48A9E-CCA7-426B-AFA0-07A4F9900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20466-DC96-4427-B07F-D35C07D59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059E8-CF1F-426A-8067-1895A0CF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B8466-0320-49DD-B8D3-CE296ACB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82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2842D-495B-452A-A682-539C7340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7C079-337E-4A3D-B35D-BB0A28BD1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6D25E4-1165-4251-8B36-CB436E62C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C458A5-7949-4B49-824F-CB1371EE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B17187-29D2-4612-834C-4E78781A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A26217-9DC5-42E6-A324-751D0DAE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09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3FBCF-7487-4CE8-B963-D009B6A6E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B1CCE9-3AA8-4E8C-8BA8-0119B5729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4BC73-99C5-47BD-B1C8-5DE824CA7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82A8E5-87C5-4AC0-8F94-AAA025CE7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8D13F6-628B-4C05-A106-ECBB77A28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8642B4-BE11-4458-AEE1-D97F7438D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5D87C6-1E3A-4AA3-8BF2-AB64BE66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FC4E37-23CE-45E6-9111-0D2AF5DE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18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F3673-5F31-44DA-89E2-7B0E949C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7E18F2-B038-461A-ABF6-94E06E25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265A73-9679-4A70-9A5A-BB816F65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AF9229-9D74-4E17-892E-238C27EB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9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3B19B7-1BBA-4CA0-BD8D-254464A7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EE0F39-D8DA-40CD-AD1D-34F04AEC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33B93-D5C5-436C-8F34-BF9E3D2F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94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F10CD-0891-4842-AE62-36B61B37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72E78-E664-44E4-8FCB-8A2AA0C0F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858D7C-7826-4EBE-88F7-D49566218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7578E7-776D-4D52-8559-CC195122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53FA9A-9EBA-4252-9A7C-B8A45F09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FAD9-4BE4-4EDD-9832-8B8BEF6D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97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5F183-7876-4344-8FCF-0EA97810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55FD54-9426-4F3B-9088-B1A3B2C75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DEF896-9331-403E-B023-6A171DBE5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E6DBFE-D201-4151-B0CC-4662E926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C4034E-E013-4D9B-8E9F-4C220C8C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4194E0-B0C2-4594-BB7B-90E28FAF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49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51B62-7DC6-4EBD-8EE3-16E72114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2B84FE-0B53-4BC3-861B-923A6CA79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7201E-47A9-4AC1-87DA-66CFC737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A8544D-7F77-48EB-BF0E-9115F3A8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9A797-6055-4A4B-885A-510DA714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57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3FA9D2-8877-49DC-8BDF-037B517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C650BD-4A4E-4EE5-AADE-B5C801286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E4662-0BA2-4E9F-B64C-66A92567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DF020-F1BC-4C30-AFC0-3100A3B8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B500B-EF42-4A0E-921B-56D1EE7F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34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96774B-BA4B-410A-8D13-BCA62B3C3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3A24B-04F7-437B-AF2D-304D17FD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FC043-0EE3-4D23-AC1A-DC476FC50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95C8F-5261-4AC6-86FB-6FB9F8941635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1ECC05-4097-402F-B755-60E4078D8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89A87-A7DC-43E2-BE3D-2D5665108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EBD2A-ABE7-4323-9A21-50A8CD340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4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D350E-1C62-46CB-B9DB-CA8B8BC4A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1663"/>
            <a:ext cx="9144000" cy="2387600"/>
          </a:xfrm>
        </p:spPr>
        <p:txBody>
          <a:bodyPr/>
          <a:lstStyle/>
          <a:p>
            <a:r>
              <a:rPr lang="en-US" altLang="ko-KR" dirty="0"/>
              <a:t>Jane Street Real-Time Market Data Forecasting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09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AA1B36C-FB2E-4B18-8B9F-C41025AA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39" y="1376113"/>
            <a:ext cx="3734321" cy="3572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31D0DA-DBC1-48FA-BE70-4BE83AF211D9}"/>
              </a:ext>
            </a:extLst>
          </p:cNvPr>
          <p:cNvSpPr txBox="1"/>
          <p:nvPr/>
        </p:nvSpPr>
        <p:spPr>
          <a:xfrm>
            <a:off x="5575300" y="2846290"/>
            <a:ext cx="52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6BF925-3E57-4ABB-BA7F-86515F8F4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91" y="1252271"/>
            <a:ext cx="4420217" cy="3820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E0FEEB-76F4-419F-B35E-BB5A14F5FD7E}"/>
              </a:ext>
            </a:extLst>
          </p:cNvPr>
          <p:cNvSpPr txBox="1"/>
          <p:nvPr/>
        </p:nvSpPr>
        <p:spPr>
          <a:xfrm>
            <a:off x="171450" y="669440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/>
              <a:t>train.parquet/partition_id=</a:t>
            </a:r>
            <a:r>
              <a:rPr lang="fr-FR" altLang="ko-KR" dirty="0">
                <a:solidFill>
                  <a:srgbClr val="FF0000"/>
                </a:solidFill>
              </a:rPr>
              <a:t>0</a:t>
            </a:r>
            <a:r>
              <a:rPr lang="fr-FR" altLang="ko-KR" dirty="0"/>
              <a:t>/part-0.parquet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E8DAB-D49D-4D80-BA9F-906533AB459F}"/>
              </a:ext>
            </a:extLst>
          </p:cNvPr>
          <p:cNvSpPr txBox="1"/>
          <p:nvPr/>
        </p:nvSpPr>
        <p:spPr>
          <a:xfrm>
            <a:off x="6734174" y="689811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/>
              <a:t>train.parquet/partition_id=</a:t>
            </a:r>
            <a:r>
              <a:rPr lang="fr-FR" altLang="ko-KR" dirty="0">
                <a:solidFill>
                  <a:srgbClr val="FF0000"/>
                </a:solidFill>
              </a:rPr>
              <a:t>9</a:t>
            </a:r>
            <a:r>
              <a:rPr lang="fr-FR" altLang="ko-KR" dirty="0"/>
              <a:t>/part-0.parquet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A7E9D-9C00-4F34-8EE9-291BFD3F0FBF}"/>
              </a:ext>
            </a:extLst>
          </p:cNvPr>
          <p:cNvSpPr txBox="1"/>
          <p:nvPr/>
        </p:nvSpPr>
        <p:spPr>
          <a:xfrm>
            <a:off x="2755900" y="5372100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-Train data</a:t>
            </a:r>
            <a:r>
              <a:rPr lang="ko-KR" altLang="en-US" dirty="0"/>
              <a:t>는 </a:t>
            </a:r>
            <a:r>
              <a:rPr lang="en-US" altLang="ko-KR" dirty="0" err="1"/>
              <a:t>partition_id</a:t>
            </a:r>
            <a:r>
              <a:rPr lang="en-US" altLang="ko-KR" dirty="0"/>
              <a:t>=0~9 </a:t>
            </a:r>
            <a:r>
              <a:rPr lang="ko-KR" altLang="en-US" dirty="0"/>
              <a:t>폴더 안에 각각 </a:t>
            </a:r>
            <a:r>
              <a:rPr lang="en-US" altLang="ko-KR" dirty="0"/>
              <a:t>1</a:t>
            </a:r>
            <a:r>
              <a:rPr lang="ko-KR" altLang="en-US" dirty="0"/>
              <a:t>개씩 총 </a:t>
            </a:r>
            <a:r>
              <a:rPr lang="en-US" altLang="ko-KR" dirty="0"/>
              <a:t>10</a:t>
            </a:r>
            <a:r>
              <a:rPr lang="ko-KR" altLang="en-US" dirty="0"/>
              <a:t>개가 존재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각 폴더의 </a:t>
            </a:r>
            <a:r>
              <a:rPr lang="en-US" altLang="ko-KR" dirty="0"/>
              <a:t>data</a:t>
            </a:r>
            <a:r>
              <a:rPr lang="ko-KR" altLang="en-US" dirty="0"/>
              <a:t>는 </a:t>
            </a:r>
            <a:r>
              <a:rPr lang="en-US" altLang="ko-KR" dirty="0" err="1"/>
              <a:t>date_id</a:t>
            </a:r>
            <a:r>
              <a:rPr lang="ko-KR" altLang="en-US" dirty="0"/>
              <a:t> 기간별로 분류되어 </a:t>
            </a:r>
            <a:r>
              <a:rPr lang="ko-KR" altLang="en-US" dirty="0" err="1"/>
              <a:t>있는걸로</a:t>
            </a:r>
            <a:r>
              <a:rPr lang="ko-KR" altLang="en-US" dirty="0"/>
              <a:t> 확인</a:t>
            </a:r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-</a:t>
            </a:r>
            <a:r>
              <a:rPr lang="en-US" altLang="ko-KR" b="1" dirty="0" err="1">
                <a:solidFill>
                  <a:srgbClr val="FF0000"/>
                </a:solidFill>
              </a:rPr>
              <a:t>data_id</a:t>
            </a:r>
            <a:r>
              <a:rPr lang="ko-KR" altLang="en-US" b="1" dirty="0">
                <a:solidFill>
                  <a:srgbClr val="FF0000"/>
                </a:solidFill>
              </a:rPr>
              <a:t>별로 </a:t>
            </a:r>
            <a:r>
              <a:rPr lang="ko-KR" altLang="en-US" b="1" dirty="0" err="1">
                <a:solidFill>
                  <a:srgbClr val="FF0000"/>
                </a:solidFill>
              </a:rPr>
              <a:t>결측치의</a:t>
            </a:r>
            <a:r>
              <a:rPr lang="ko-KR" altLang="en-US" b="1" dirty="0">
                <a:solidFill>
                  <a:srgbClr val="FF0000"/>
                </a:solidFill>
              </a:rPr>
              <a:t> 개수나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결측 </a:t>
            </a:r>
            <a:r>
              <a:rPr lang="en-US" altLang="ko-KR" b="1" dirty="0">
                <a:solidFill>
                  <a:srgbClr val="FF0000"/>
                </a:solidFill>
              </a:rPr>
              <a:t>Feature</a:t>
            </a:r>
            <a:r>
              <a:rPr lang="ko-KR" altLang="en-US" b="1" dirty="0">
                <a:solidFill>
                  <a:srgbClr val="FF0000"/>
                </a:solidFill>
              </a:rPr>
              <a:t>가 다르다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583457-B4CE-4B71-AA10-88134F547707}"/>
              </a:ext>
            </a:extLst>
          </p:cNvPr>
          <p:cNvSpPr/>
          <p:nvPr/>
        </p:nvSpPr>
        <p:spPr>
          <a:xfrm>
            <a:off x="1040986" y="1359738"/>
            <a:ext cx="609600" cy="3572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E90F80-F23C-4EC2-A784-632A883D96C3}"/>
              </a:ext>
            </a:extLst>
          </p:cNvPr>
          <p:cNvSpPr/>
          <p:nvPr/>
        </p:nvSpPr>
        <p:spPr>
          <a:xfrm>
            <a:off x="7505440" y="1252271"/>
            <a:ext cx="609600" cy="3572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08F3EE-FCF8-49DD-98B6-A44E357A341B}"/>
              </a:ext>
            </a:extLst>
          </p:cNvPr>
          <p:cNvSpPr/>
          <p:nvPr/>
        </p:nvSpPr>
        <p:spPr>
          <a:xfrm>
            <a:off x="3416146" y="1367925"/>
            <a:ext cx="749714" cy="3580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57DB20-6D10-458D-A128-C5BFA0C73936}"/>
              </a:ext>
            </a:extLst>
          </p:cNvPr>
          <p:cNvSpPr/>
          <p:nvPr/>
        </p:nvSpPr>
        <p:spPr>
          <a:xfrm>
            <a:off x="10699543" y="1252271"/>
            <a:ext cx="749714" cy="3580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31D0DA-DBC1-48FA-BE70-4BE83AF211D9}"/>
              </a:ext>
            </a:extLst>
          </p:cNvPr>
          <p:cNvSpPr txBox="1"/>
          <p:nvPr/>
        </p:nvSpPr>
        <p:spPr>
          <a:xfrm>
            <a:off x="5575300" y="2846290"/>
            <a:ext cx="52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0FEEB-76F4-419F-B35E-BB5A14F5FD7E}"/>
              </a:ext>
            </a:extLst>
          </p:cNvPr>
          <p:cNvSpPr txBox="1"/>
          <p:nvPr/>
        </p:nvSpPr>
        <p:spPr>
          <a:xfrm>
            <a:off x="107950" y="193238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/>
              <a:t>train.parquet/partition_id=</a:t>
            </a:r>
            <a:r>
              <a:rPr lang="fr-FR" altLang="ko-KR" dirty="0">
                <a:solidFill>
                  <a:srgbClr val="FF0000"/>
                </a:solidFill>
              </a:rPr>
              <a:t>0 ~ 2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A7E9D-9C00-4F34-8EE9-291BFD3F0FBF}"/>
              </a:ext>
            </a:extLst>
          </p:cNvPr>
          <p:cNvSpPr txBox="1"/>
          <p:nvPr/>
        </p:nvSpPr>
        <p:spPr>
          <a:xfrm>
            <a:off x="269394" y="5402544"/>
            <a:ext cx="9319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-</a:t>
            </a:r>
            <a:r>
              <a:rPr lang="en-US" altLang="ko-KR" b="1" dirty="0" err="1">
                <a:solidFill>
                  <a:srgbClr val="FF0000"/>
                </a:solidFill>
              </a:rPr>
              <a:t>symbol_id</a:t>
            </a:r>
            <a:r>
              <a:rPr lang="ko-KR" altLang="en-US" b="1" dirty="0">
                <a:solidFill>
                  <a:srgbClr val="FF0000"/>
                </a:solidFill>
              </a:rPr>
              <a:t>를 개별 종목 혹은 채권으로 가정하여 해당 값을 기준으로 </a:t>
            </a:r>
            <a:r>
              <a:rPr lang="ko-KR" altLang="en-US" b="1" dirty="0" err="1">
                <a:solidFill>
                  <a:srgbClr val="FF0000"/>
                </a:solidFill>
              </a:rPr>
              <a:t>결측치</a:t>
            </a:r>
            <a:r>
              <a:rPr lang="ko-KR" altLang="en-US" b="1" dirty="0">
                <a:solidFill>
                  <a:srgbClr val="FF0000"/>
                </a:solidFill>
              </a:rPr>
              <a:t> 분석 진행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-</a:t>
            </a:r>
            <a:r>
              <a:rPr lang="en-US" altLang="ko-KR" b="1" dirty="0" err="1">
                <a:solidFill>
                  <a:srgbClr val="FF0000"/>
                </a:solidFill>
              </a:rPr>
              <a:t>date_id</a:t>
            </a:r>
            <a:r>
              <a:rPr lang="en-US" altLang="ko-KR" b="1" dirty="0">
                <a:solidFill>
                  <a:srgbClr val="FF0000"/>
                </a:solidFill>
              </a:rPr>
              <a:t> 0~339</a:t>
            </a:r>
            <a:r>
              <a:rPr lang="ko-KR" altLang="en-US" b="1" dirty="0">
                <a:solidFill>
                  <a:srgbClr val="FF0000"/>
                </a:solidFill>
              </a:rPr>
              <a:t>의 </a:t>
            </a:r>
            <a:r>
              <a:rPr lang="en-US" altLang="ko-KR" b="1" dirty="0">
                <a:solidFill>
                  <a:srgbClr val="FF0000"/>
                </a:solidFill>
              </a:rPr>
              <a:t>data </a:t>
            </a:r>
            <a:r>
              <a:rPr lang="ko-KR" altLang="en-US" b="1" dirty="0">
                <a:solidFill>
                  <a:srgbClr val="FF0000"/>
                </a:solidFill>
              </a:rPr>
              <a:t>개수는 총 </a:t>
            </a:r>
            <a:r>
              <a:rPr lang="en-US" altLang="ko-KR" b="1" dirty="0">
                <a:solidFill>
                  <a:srgbClr val="FF0000"/>
                </a:solidFill>
              </a:rPr>
              <a:t>287811</a:t>
            </a:r>
            <a:r>
              <a:rPr lang="ko-KR" altLang="en-US" b="1" dirty="0">
                <a:solidFill>
                  <a:srgbClr val="FF0000"/>
                </a:solidFill>
              </a:rPr>
              <a:t>개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-</a:t>
            </a:r>
            <a:r>
              <a:rPr lang="en-US" altLang="ko-KR" b="1" dirty="0" err="1">
                <a:solidFill>
                  <a:srgbClr val="FF0000"/>
                </a:solidFill>
              </a:rPr>
              <a:t>date_id</a:t>
            </a:r>
            <a:r>
              <a:rPr lang="ko-KR" altLang="en-US" b="1" dirty="0">
                <a:solidFill>
                  <a:srgbClr val="FF0000"/>
                </a:solidFill>
              </a:rPr>
              <a:t>당 </a:t>
            </a:r>
            <a:r>
              <a:rPr lang="en-US" altLang="ko-KR" b="1" dirty="0" err="1">
                <a:solidFill>
                  <a:srgbClr val="FF0000"/>
                </a:solidFill>
              </a:rPr>
              <a:t>time_id</a:t>
            </a:r>
            <a:r>
              <a:rPr lang="ko-KR" altLang="en-US" b="1" dirty="0">
                <a:solidFill>
                  <a:srgbClr val="FF0000"/>
                </a:solidFill>
              </a:rPr>
              <a:t>는 </a:t>
            </a:r>
            <a:r>
              <a:rPr lang="en-US" altLang="ko-KR" b="1" dirty="0">
                <a:solidFill>
                  <a:srgbClr val="FF0000"/>
                </a:solidFill>
              </a:rPr>
              <a:t>0~849</a:t>
            </a:r>
            <a:r>
              <a:rPr lang="ko-KR" altLang="en-US" b="1" dirty="0">
                <a:solidFill>
                  <a:srgbClr val="FF0000"/>
                </a:solidFill>
              </a:rPr>
              <a:t>개의 </a:t>
            </a:r>
            <a:r>
              <a:rPr lang="en-US" altLang="ko-KR" b="1" dirty="0">
                <a:solidFill>
                  <a:srgbClr val="FF0000"/>
                </a:solidFill>
              </a:rPr>
              <a:t>row</a:t>
            </a:r>
            <a:r>
              <a:rPr lang="ko-KR" altLang="en-US" b="1" dirty="0">
                <a:solidFill>
                  <a:srgbClr val="FF0000"/>
                </a:solidFill>
              </a:rPr>
              <a:t>를 가진다</a:t>
            </a:r>
            <a:r>
              <a:rPr lang="en-US" altLang="ko-KR" b="1" dirty="0">
                <a:solidFill>
                  <a:srgbClr val="FF0000"/>
                </a:solidFill>
              </a:rPr>
              <a:t>. (339 * 849 = 287811)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97AE28-E5D4-4251-8987-273D21E6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5" y="758159"/>
            <a:ext cx="6878010" cy="44487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DCC69D-07E5-40A5-93F4-17B038C5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409" y="681949"/>
            <a:ext cx="4448796" cy="452500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2439517-F50A-4A32-9A8B-798851898B2E}"/>
              </a:ext>
            </a:extLst>
          </p:cNvPr>
          <p:cNvCxnSpPr/>
          <p:nvPr/>
        </p:nvCxnSpPr>
        <p:spPr>
          <a:xfrm>
            <a:off x="7315200" y="0"/>
            <a:ext cx="0" cy="5295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681AC2F-B210-4A63-86B2-7A9ABD390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249" y="1391330"/>
            <a:ext cx="1219370" cy="364858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4AF5F65-EE36-4C8A-B074-BF5C3596C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827" y="1412386"/>
            <a:ext cx="1190791" cy="3905795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4D5A9F5-F42D-4E3D-A23F-C5A8DDB00E71}"/>
              </a:ext>
            </a:extLst>
          </p:cNvPr>
          <p:cNvCxnSpPr/>
          <p:nvPr/>
        </p:nvCxnSpPr>
        <p:spPr>
          <a:xfrm>
            <a:off x="0" y="5402544"/>
            <a:ext cx="1219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7E3478-F1D2-47C0-81CD-8DA718747ACE}"/>
              </a:ext>
            </a:extLst>
          </p:cNvPr>
          <p:cNvSpPr txBox="1"/>
          <p:nvPr/>
        </p:nvSpPr>
        <p:spPr>
          <a:xfrm>
            <a:off x="9006623" y="187445"/>
            <a:ext cx="1752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Missing value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909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256CE4-DBFC-4F26-AF15-F99E49EA6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5" y="917313"/>
            <a:ext cx="4829849" cy="37533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A9851E-E55D-495E-B4E0-DAF8F9DC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912" y="917313"/>
            <a:ext cx="4839375" cy="3810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465C56-6F12-42DE-9A27-44237625EB28}"/>
              </a:ext>
            </a:extLst>
          </p:cNvPr>
          <p:cNvSpPr txBox="1"/>
          <p:nvPr/>
        </p:nvSpPr>
        <p:spPr>
          <a:xfrm>
            <a:off x="304800" y="172998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00~ 04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8F622-4BC4-4624-92FD-1CBE246CEEAD}"/>
              </a:ext>
            </a:extLst>
          </p:cNvPr>
          <p:cNvSpPr txBox="1"/>
          <p:nvPr/>
        </p:nvSpPr>
        <p:spPr>
          <a:xfrm>
            <a:off x="685800" y="5283200"/>
            <a:ext cx="9207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dirty="0" err="1"/>
              <a:t>Symbol_id</a:t>
            </a:r>
            <a:r>
              <a:rPr lang="ko-KR" altLang="en-US" dirty="0"/>
              <a:t>를 고정시켜 놓고</a:t>
            </a:r>
            <a:r>
              <a:rPr lang="en-US" altLang="ko-KR" dirty="0"/>
              <a:t>, </a:t>
            </a:r>
            <a:r>
              <a:rPr lang="en-US" altLang="ko-KR" dirty="0" err="1"/>
              <a:t>date_id</a:t>
            </a:r>
            <a:r>
              <a:rPr lang="ko-KR" altLang="en-US" dirty="0"/>
              <a:t>를 기준으로 </a:t>
            </a:r>
            <a:r>
              <a:rPr lang="en-US" altLang="ko-KR" dirty="0"/>
              <a:t>Feature 00~04</a:t>
            </a:r>
            <a:r>
              <a:rPr lang="ko-KR" altLang="en-US" dirty="0"/>
              <a:t>의 </a:t>
            </a:r>
            <a:r>
              <a:rPr lang="ko-KR" altLang="en-US" dirty="0" err="1"/>
              <a:t>결측치를</a:t>
            </a:r>
            <a:r>
              <a:rPr lang="ko-KR" altLang="en-US" dirty="0"/>
              <a:t> 확인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en-US" altLang="ko-KR" dirty="0" err="1"/>
              <a:t>date_id</a:t>
            </a:r>
            <a:r>
              <a:rPr lang="en-US" altLang="ko-KR" dirty="0"/>
              <a:t> 246</a:t>
            </a:r>
            <a:r>
              <a:rPr lang="ko-KR" altLang="en-US" dirty="0"/>
              <a:t>까지는 모든 </a:t>
            </a:r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ko-KR" altLang="en-US" dirty="0" err="1"/>
              <a:t>결측치고</a:t>
            </a:r>
            <a:r>
              <a:rPr lang="en-US" altLang="ko-KR" dirty="0"/>
              <a:t>, 247 </a:t>
            </a:r>
            <a:r>
              <a:rPr lang="ko-KR" altLang="en-US" dirty="0"/>
              <a:t>이후부터는 </a:t>
            </a:r>
            <a:r>
              <a:rPr lang="en-US" altLang="ko-KR" dirty="0"/>
              <a:t>data</a:t>
            </a:r>
            <a:r>
              <a:rPr lang="ko-KR" altLang="en-US" dirty="0"/>
              <a:t>가 존재</a:t>
            </a:r>
            <a:endParaRPr lang="en-US" altLang="ko-KR" dirty="0"/>
          </a:p>
          <a:p>
            <a:r>
              <a:rPr lang="en-US" altLang="ko-KR" dirty="0"/>
              <a:t>-246</a:t>
            </a:r>
            <a:r>
              <a:rPr lang="ko-KR" altLang="en-US" dirty="0"/>
              <a:t>의 의미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일반적으로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년 중 주말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공휴일을 제외한 날의 수가 </a:t>
            </a:r>
            <a:r>
              <a:rPr lang="en-US" altLang="ko-KR" dirty="0">
                <a:sym typeface="Wingdings" panose="05000000000000000000" pitchFamily="2" charset="2"/>
              </a:rPr>
              <a:t>246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초기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년의 </a:t>
            </a: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가 존재하지 않는 것이라고 가정 가능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3908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DA4911-F6E3-4E4F-80D9-54792D6B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9" y="1158592"/>
            <a:ext cx="5706271" cy="40582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F8719E-4CE3-488A-B14C-E87F95253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06" y="536137"/>
            <a:ext cx="5277587" cy="5163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EFF68-C999-4D53-876E-88864EE94DB0}"/>
              </a:ext>
            </a:extLst>
          </p:cNvPr>
          <p:cNvSpPr txBox="1"/>
          <p:nvPr/>
        </p:nvSpPr>
        <p:spPr>
          <a:xfrm>
            <a:off x="304800" y="172998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09~11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4F2A8-737E-4371-A87E-732632E19FFC}"/>
              </a:ext>
            </a:extLst>
          </p:cNvPr>
          <p:cNvSpPr txBox="1"/>
          <p:nvPr/>
        </p:nvSpPr>
        <p:spPr>
          <a:xfrm>
            <a:off x="685800" y="5283200"/>
            <a:ext cx="9715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-Feature 09~11</a:t>
            </a:r>
            <a:r>
              <a:rPr lang="ko-KR" altLang="en-US" dirty="0">
                <a:sym typeface="Wingdings" panose="05000000000000000000" pitchFamily="2" charset="2"/>
              </a:rPr>
              <a:t>은 범주형 변수로 판단된다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en-US" altLang="ko-KR" dirty="0" err="1">
                <a:sym typeface="Wingdings" panose="05000000000000000000" pitchFamily="2" charset="2"/>
              </a:rPr>
              <a:t>Symbol_id</a:t>
            </a:r>
            <a:r>
              <a:rPr lang="ko-KR" altLang="en-US" dirty="0">
                <a:sym typeface="Wingdings" panose="05000000000000000000" pitchFamily="2" charset="2"/>
              </a:rPr>
              <a:t>별로 해당 </a:t>
            </a:r>
            <a:r>
              <a:rPr lang="en-US" altLang="ko-KR" dirty="0">
                <a:sym typeface="Wingdings" panose="05000000000000000000" pitchFamily="2" charset="2"/>
              </a:rPr>
              <a:t>Feature</a:t>
            </a:r>
            <a:r>
              <a:rPr lang="ko-KR" altLang="en-US" dirty="0">
                <a:sym typeface="Wingdings" panose="05000000000000000000" pitchFamily="2" charset="2"/>
              </a:rPr>
              <a:t>들은 고정된 동일한 값을 가진다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종목에 해당하는 종목코드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산업군</a:t>
            </a:r>
            <a:r>
              <a:rPr lang="ko-KR" altLang="en-US" dirty="0">
                <a:sym typeface="Wingdings" panose="05000000000000000000" pitchFamily="2" charset="2"/>
              </a:rPr>
              <a:t> 등을 나타내는 </a:t>
            </a:r>
            <a:r>
              <a:rPr lang="en-US" altLang="ko-KR" dirty="0">
                <a:sym typeface="Wingdings" panose="05000000000000000000" pitchFamily="2" charset="2"/>
              </a:rPr>
              <a:t>Feature</a:t>
            </a:r>
            <a:r>
              <a:rPr lang="ko-KR" altLang="en-US" dirty="0">
                <a:sym typeface="Wingdings" panose="05000000000000000000" pitchFamily="2" charset="2"/>
              </a:rPr>
              <a:t>일 가능성</a:t>
            </a:r>
            <a:r>
              <a:rPr lang="en-US" altLang="ko-KR" dirty="0">
                <a:sym typeface="Wingdings" panose="05000000000000000000" pitchFamily="2" charset="2"/>
              </a:rPr>
              <a:t>..</a:t>
            </a:r>
          </a:p>
          <a:p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-Symbol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이 같으면 동일한 값을 가지기 때문에 학습 및 예측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Feature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로는 전혀 의미가 없을 것으로 판단된다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794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291614-32D8-4574-A2E8-D8061EF74980}"/>
              </a:ext>
            </a:extLst>
          </p:cNvPr>
          <p:cNvSpPr txBox="1"/>
          <p:nvPr/>
        </p:nvSpPr>
        <p:spPr>
          <a:xfrm>
            <a:off x="304800" y="172998"/>
            <a:ext cx="306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Feature 39, 42, 50, 53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1FAD25-E270-40B2-BB57-E05DEE7F3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3" y="1026828"/>
            <a:ext cx="5287113" cy="40677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109DA8-428E-4CEB-AEEB-DDFF0D70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546" y="1026828"/>
            <a:ext cx="5553850" cy="41344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0ECD3F-550D-4966-8DF4-4F9F57DE2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43" y="5358024"/>
            <a:ext cx="1914792" cy="5239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6BF58F-C41A-4E0E-864F-0C52F6DAD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394" y="5161255"/>
            <a:ext cx="1162212" cy="1095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65AF98-0D7F-4C25-BAB3-FE00A831737B}"/>
              </a:ext>
            </a:extLst>
          </p:cNvPr>
          <p:cNvSpPr txBox="1"/>
          <p:nvPr/>
        </p:nvSpPr>
        <p:spPr>
          <a:xfrm>
            <a:off x="4727496" y="5524353"/>
            <a:ext cx="703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</a:t>
            </a:r>
            <a:r>
              <a:rPr lang="en-US" altLang="ko-KR" dirty="0"/>
              <a:t>Feature</a:t>
            </a:r>
            <a:r>
              <a:rPr lang="ko-KR" altLang="en-US" dirty="0"/>
              <a:t>들은 모든 </a:t>
            </a:r>
            <a:r>
              <a:rPr lang="en-US" altLang="ko-KR" dirty="0" err="1"/>
              <a:t>date_id</a:t>
            </a:r>
            <a:r>
              <a:rPr lang="ko-KR" altLang="en-US" dirty="0"/>
              <a:t>에서 특정 </a:t>
            </a:r>
            <a:r>
              <a:rPr lang="en-US" altLang="ko-KR" dirty="0" err="1"/>
              <a:t>time_id</a:t>
            </a:r>
            <a:r>
              <a:rPr lang="ko-KR" altLang="en-US" dirty="0"/>
              <a:t>에 결측</a:t>
            </a:r>
          </a:p>
        </p:txBody>
      </p:sp>
    </p:spTree>
    <p:extLst>
      <p:ext uri="{BB962C8B-B14F-4D97-AF65-F5344CB8AC3E}">
        <p14:creationId xmlns:p14="http://schemas.microsoft.com/office/powerpoint/2010/main" val="269018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282</Words>
  <Application>Microsoft Office PowerPoint</Application>
  <PresentationFormat>와이드스크린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Jane Street Real-Time Market Data Forecasting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Jane Street Real-Time Market Data Forecasting</dc:title>
  <dc:creator>gyudong.park</dc:creator>
  <cp:lastModifiedBy>gyudong.park</cp:lastModifiedBy>
  <cp:revision>1</cp:revision>
  <dcterms:created xsi:type="dcterms:W3CDTF">2024-12-19T05:22:34Z</dcterms:created>
  <dcterms:modified xsi:type="dcterms:W3CDTF">2024-12-19T07:10:42Z</dcterms:modified>
</cp:coreProperties>
</file>